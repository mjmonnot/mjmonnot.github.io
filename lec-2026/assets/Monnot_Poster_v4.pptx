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SIOP LEC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07592"/>
            <a:ext cx="9235440" cy="1874519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66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THE AI PARADOX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3255264"/>
            <a:ext cx="3108960" cy="64008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3456432"/>
            <a:ext cx="9235440" cy="1234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How Optimization May Undermine Meaningful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28032"/>
            <a:ext cx="9235440" cy="1463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A two-wave field study and a governed AI coding pipeline
for measuring meaning of work at scale.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R1·C1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AUTHOR  · 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70432"/>
            <a:ext cx="923544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Matthew J. Monnot¹  ·  Isaac Thompson²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27632"/>
            <a:ext cx="9235440" cy="34747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¹ Vocentive (matt@vocentive.com)   ² Amazon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93392"/>
            <a:ext cx="923544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E8B8B"/>
                </a:solidFill>
                <a:latin typeface="Segoe UI"/>
                <a:ea typeface="Segoe UI"/>
                <a:cs typeface="Segoe UI"/>
              </a:rPr>
              <a:t>SIOP Leading Edge Consortium 2026
Shaping the Future of People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862072"/>
            <a:ext cx="9235440" cy="3794760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862072"/>
            <a:ext cx="109728" cy="379476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99232"/>
            <a:ext cx="8686800" cy="34747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E8B8B"/>
                </a:solidFill>
                <a:latin typeface="Segoe UI"/>
                <a:ea typeface="Segoe UI"/>
                <a:cs typeface="Segoe UI"/>
              </a:rPr>
              <a:t>ONE-SENTENCE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8686800" cy="3063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Organizations are optimizing work with AI for efficiency. Meaning of work predicts retention and well-being. If optimization strips the meaningful parts, efficiency gains are financed by turnover and burnout.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R1·C2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WHY THIS MATTERS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7592"/>
            <a:ext cx="9144000" cy="5669280"/>
          </a:xfrm>
          <a:prstGeom prst="rect">
            <a:avLst/>
          </a:prstGeom>
          <a:noFill/>
        </p:spPr>
        <p:txBody>
          <a:bodyPr wrap="square" lIns="18288" rIns="54864" tIns="18288" bIns="18288" anchor="t"/>
          <a:lstStyle/>
          <a:p>
            <a:pPr algn="l">
              <a:spcAft>
                <a:spcPts val="2200"/>
              </a:spcAft>
            </a:pPr>
            <a:r>
              <a:rPr sz="24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People analytics is about to inherit responsibility for measuring meaning at scale.</a:t>
            </a:r>
          </a:p>
          <a:p>
            <a:pPr algn="l">
              <a:spcAft>
                <a:spcPts val="2200"/>
              </a:spcAft>
            </a:pPr>
            <a:r>
              <a:rPr sz="24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This project tests whether that is possible — and how to govern it.</a:t>
            </a:r>
          </a:p>
          <a:p>
            <a:pPr algn="l">
              <a:spcAft>
                <a:spcPts val="2200"/>
              </a:spcAft>
            </a:pPr>
            <a:r>
              <a:rPr sz="24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Two-wave field study, a locked AI coding pipeline, and ten years of nurses' own talk.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R1·C3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SCAN FOR LATEST RESULTS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70432"/>
            <a:ext cx="9235440" cy="4114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Point a phone camera here. Packet updates through the consortium week.</a:t>
            </a:r>
          </a:p>
        </p:txBody>
      </p:sp>
      <p:pic>
        <p:nvPicPr>
          <p:cNvPr id="6" name="Picture 5" descr="qr_goody_b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73352"/>
            <a:ext cx="2743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4553712"/>
            <a:ext cx="9235440" cy="1920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Digital goody bag
https://mjmonnot.github.io/lec-2026/
Poster, figures, methods, readings, and the quarter kit.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R1·C4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FRAMEWORK</a:t>
            </a:r>
          </a:p>
        </p:txBody>
      </p:sp>
      <p:pic>
        <p:nvPicPr>
          <p:cNvPr id="5" name="Picture 4" descr="fig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932688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839712"/>
            <a:ext cx="9290304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Rosso et al. (2010): four pathways to meaningful work, 13 mechanism facets.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R2·C1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OPEN QUESTIONS WE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7592"/>
            <a:ext cx="9144000" cy="5669280"/>
          </a:xfrm>
          <a:prstGeom prst="rect">
            <a:avLst/>
          </a:prstGeom>
          <a:noFill/>
        </p:spPr>
        <p:txBody>
          <a:bodyPr wrap="square" lIns="18288" rIns="54864" tIns="18288" bIns="18288" anchor="t"/>
          <a:lstStyle/>
          <a:p>
            <a:pPr algn="l">
              <a:spcAft>
                <a:spcPts val="2200"/>
              </a:spcAft>
            </a:pPr>
            <a:r>
              <a:rPr sz="24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Additive vs. interactive combination of the four pathways.</a:t>
            </a:r>
          </a:p>
          <a:p>
            <a:pPr algn="l">
              <a:spcAft>
                <a:spcPts val="2200"/>
              </a:spcAft>
            </a:pPr>
            <a:r>
              <a:rPr sz="24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Possible plateau or curvilinear effect — too many active pathways may exhaust rather than sustain (Rosso et al., 2010, p. 116).</a:t>
            </a:r>
          </a:p>
          <a:p>
            <a:pPr algn="l">
              <a:spcAft>
                <a:spcPts val="2200"/>
              </a:spcAft>
            </a:pPr>
            <a:r>
              <a:rPr sz="24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Which pathways AI-driven redesign is most likely to strip.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R2·C2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STUDY DESIGN</a:t>
            </a:r>
          </a:p>
        </p:txBody>
      </p:sp>
      <p:pic>
        <p:nvPicPr>
          <p:cNvPr id="5" name="Picture 4" descr="fi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932688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839712"/>
            <a:ext cx="9290304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ML evaluation discipline, ported to survey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R2·C3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FINDING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Humans cannot reliably see communal meaning</a:t>
            </a:r>
          </a:p>
        </p:txBody>
      </p:sp>
      <p:pic>
        <p:nvPicPr>
          <p:cNvPr id="5" name="Picture 4" descr="fig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932688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839712"/>
            <a:ext cx="9290304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Two trained human coders, 276 cases, dimension-level agreement.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R2·C4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WHAT FINDING 1 MEANS FOR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9144000" cy="5760720"/>
          </a:xfrm>
          <a:prstGeom prst="rect">
            <a:avLst/>
          </a:prstGeom>
          <a:noFill/>
        </p:spPr>
        <p:txBody>
          <a:bodyPr wrap="square" lIns="18288" rIns="54864" tIns="18288" bIns="18288" anchor="t"/>
          <a:lstStyle/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Any vendor claiming to measure belonging or authenticity from text should be asked: against what human ceiling?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For communal meaning that ceiling is ~.5, not .9.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Validation targets must be dimension-specific.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Agreement claims without a human benchmark are marketing.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R3·C1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FINDING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one-shot failed. Human gold stayed.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170432"/>
            <a:ext cx="9189720" cy="1965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Six frozen prompt architectures were scored once on the 55-case development set against bars locked to the human interval (Agency ≥ .910; Others ≥ .805). Every prompt was disqualified on false positives. Agency PSA sat at .750–.798. Study 1 stays on the human composite. No test case was scored before those results were fixed.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73552"/>
            <a:ext cx="9144000" cy="3840480"/>
          </a:xfrm>
          <a:prstGeom prst="rect">
            <a:avLst/>
          </a:prstGeom>
          <a:noFill/>
        </p:spPr>
        <p:txBody>
          <a:bodyPr wrap="square" lIns="18288" rIns="54864" tIns="18288" bIns="18288" anchor="t"/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Communion and Self had no acceptance bar: human PSA was too low to validate against.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A prompt tuned to this pair would export communion PSA .48 into every later corpus.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The independent no-gold panel (ADR 0010) is a separate instrument, still unfrozen.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R3·C2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FINDING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Registered next-year tests were not supported</a:t>
            </a:r>
          </a:p>
        </p:txBody>
      </p:sp>
      <p:pic>
        <p:nvPicPr>
          <p:cNvPr id="5" name="Picture 4" descr="fig_confirmatory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9326880" cy="4472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839712"/>
            <a:ext cx="9290304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Others, agency, and self did not forecast T2 meaning, exhaustion, or turnover. Joint block ΔR² = .012. BF01 = 481.5 on next-year meaningfulness. The same codes tracked concurrent WAMI.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R3·C3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TRY THIS QUARTER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463040"/>
            <a:ext cx="658368" cy="658368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658368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61872"/>
            <a:ext cx="8275320" cy="10972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Seal a holdout before any prompt iteration.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834640"/>
            <a:ext cx="658368" cy="658368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658368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33472"/>
            <a:ext cx="8275320" cy="10972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Pre-register the acceptance bar against a human benchmark.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4206240"/>
            <a:ext cx="658368" cy="658368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206240"/>
            <a:ext cx="658368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005072"/>
            <a:ext cx="8275320" cy="10972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Automate leakage + PII checks in CI.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989320"/>
            <a:ext cx="9235440" cy="10972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Aft>
                <a:spcPts val="0"/>
              </a:spcAft>
            </a:pPr>
            <a:r>
              <a:rPr sz="2200" b="0" i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Shaping the future of people analytics means governing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R3·C4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53312"/>
            <a:ext cx="9144000" cy="5577840"/>
          </a:xfrm>
          <a:prstGeom prst="rect">
            <a:avLst/>
          </a:prstGeom>
          <a:noFill/>
        </p:spPr>
        <p:txBody>
          <a:bodyPr wrap="square" lIns="18288" rIns="54864" tIns="18288" bIns="18288" anchor="t"/>
          <a:lstStyle/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Designed test of the competence → strain lead (n = 17 present cases).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Validate the forum event coder: second model, perturbations, negative controls, human check.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Within-account lagged design: apparatus named in an earlier post, control loss or exit talk later.</a:t>
            </a:r>
          </a:p>
          <a:p>
            <a:pPr algn="l">
              <a:spcAft>
                <a:spcPts val="2000"/>
              </a:spcAft>
            </a:pPr>
            <a:r>
              <a:rPr sz="22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 Quasi-experimental test of AI adoption in helping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R4·C1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DIGITAL SWAG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70432"/>
            <a:ext cx="9235440" cy="3840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2E8B8B"/>
                </a:solidFill>
                <a:latin typeface="Segoe UI"/>
                <a:ea typeface="Segoe UI"/>
                <a:cs typeface="Segoe UI"/>
              </a:rPr>
              <a:t>https://mjmonnot.github.io/lec-2026/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73352"/>
            <a:ext cx="9235440" cy="1536192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8778240" cy="4389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Guardrails explainer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877824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Plain-English one-pager on sealed holdouts, acceptance bars, and CI checks.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246120"/>
            <a:ext cx="9235440" cy="1536192"/>
          </a:xfrm>
          <a:prstGeom prst="roundRect">
            <a:avLst/>
          </a:prstGeom>
          <a:solidFill>
            <a:srgbClr val="E4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55848"/>
            <a:ext cx="8778240" cy="4389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Methods &amp; decision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13048"/>
            <a:ext cx="877824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Locked split, pre-registered bars, and run provenance (model pin, prompt hash, git SHA).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818888"/>
            <a:ext cx="9235440" cy="1536192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28616"/>
            <a:ext cx="8778240" cy="4389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Contact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85816"/>
            <a:ext cx="877824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Matthew J. Monnot  ·  Vocentive  ·  matt@vocentive.com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R4·C2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FINDING 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Nurses named the apparatus, not AI</a:t>
            </a:r>
          </a:p>
        </p:txBody>
      </p:sp>
      <p:pic>
        <p:nvPicPr>
          <p:cNvPr id="5" name="Picture 4" descr="Study2_fig1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9326880" cy="37501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839712"/>
            <a:ext cx="9290304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7,709 allnurses posts, capture years 2016–2026, one-model event codes. Seven named-AI events, none after 2021. Ratios, metrics, charting: one post in twenty, flat. Lack-of-control flag +4 points (template-change caveat). Not validated on forum 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R4·C3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FINDING 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What moved was control, not skill</a:t>
            </a:r>
          </a:p>
        </p:txBody>
      </p:sp>
      <p:pic>
        <p:nvPicPr>
          <p:cNvPr id="5" name="Picture 4" descr="Study2_fig5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9326880" cy="29896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839712"/>
            <a:ext cx="9290304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Half of apparatus events land on Control/Autonomy; frustrated Control is the only facet cell that grew. Competence stays the most enacted facet. Role from credential badge at capture, 48% of posts. RN flat; APRN up with an interval through zero.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R4·C4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RESULT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Competence-coded stories and later strain</a:t>
            </a:r>
          </a:p>
        </p:txBody>
      </p:sp>
      <p:pic>
        <p:nvPicPr>
          <p:cNvPr id="5" name="Picture 4" descr="fig_compet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9326880" cy="41922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839712"/>
            <a:ext cx="9290304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Exploratory. T1 competence/mastery codes, higher T2 turnover (b = 1.40) and exhaustion (b = 0.95). Seventeen present cases of 140. Not a product finding.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X1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RESULT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Concurrent meaning tracks code density</a:t>
            </a:r>
          </a:p>
        </p:txBody>
      </p:sp>
      <p:pic>
        <p:nvPicPr>
          <p:cNvPr id="5" name="Picture 4" descr="fig_density_wami_quadr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9326880" cy="6733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839712"/>
            <a:ext cx="9290304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The codebook was not empty. Pathway density tracks T1 WAMI. Quadratic flattening is exploratory; not the registered T2 block.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X2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0241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0058400" cy="54864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73152"/>
            <a:ext cx="9363456" cy="8961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RESULT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Forum meaning events by facet, polarity, and period</a:t>
            </a:r>
          </a:p>
        </p:txBody>
      </p:sp>
      <p:pic>
        <p:nvPicPr>
          <p:cNvPr id="5" name="Picture 4" descr="Study2_fig2_fac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9326880" cy="40290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839712"/>
            <a:ext cx="9290304" cy="47548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Events per 100 posts, one-model codes. Competence most enacted; Control/Autonomy most frustrated and the only cell that grew. Communion spread across five thin, mostly enacted rows. Not validated on forum text; capture year, not posted-at.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424927"/>
            <a:ext cx="9363456" cy="1371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7461504"/>
            <a:ext cx="6766560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Monnot  ·  SIOP LEC 2026  ·  letter 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7461504"/>
            <a:ext cx="2487168" cy="25603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Aft>
                <a:spcPts val="0"/>
              </a:spcAft>
            </a:pPr>
            <a:r>
              <a:rPr sz="1800" b="1" i="0">
                <a:solidFill>
                  <a:srgbClr val="1F3A5F"/>
                </a:solidFill>
                <a:latin typeface="Segoe UI"/>
                <a:ea typeface="Segoe UI"/>
                <a:cs typeface="Segoe UI"/>
              </a:rPr>
              <a:t>X3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