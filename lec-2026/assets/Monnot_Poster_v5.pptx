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0058400" cy="7772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SIOP LEC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307592"/>
            <a:ext cx="9235440" cy="1874519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66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THE AI PARADOX</a:t>
            </a:r>
          </a:p>
        </p:txBody>
      </p:sp>
      <p:sp>
        <p:nvSpPr>
          <p:cNvPr id="6" name="Rectangle 5"/>
          <p:cNvSpPr/>
          <p:nvPr/>
        </p:nvSpPr>
        <p:spPr>
          <a:xfrm>
            <a:off x="438912" y="3255264"/>
            <a:ext cx="3108960" cy="64008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3456432"/>
            <a:ext cx="9235440" cy="123444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How Optimization May Undermine Meaningful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828032"/>
            <a:ext cx="9235440" cy="146304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0"/>
              </a:spcAft>
            </a:pPr>
            <a:r>
              <a:rPr sz="22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A two-wave field study and a governed AI coding pipeline
for measuring meaning of work at scale.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R1·C1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4F2F2"/>
                </a:solidFill>
                <a:latin typeface="Segoe UI"/>
                <a:ea typeface="Segoe UI"/>
                <a:cs typeface="Segoe UI"/>
              </a:rPr>
              <a:t>AUTHORS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Efficiency can be paid for in strain and exit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70432"/>
            <a:ext cx="9235440" cy="457200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32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Matthew J. Monnot¹  ·  Isaac Thompson²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627632"/>
            <a:ext cx="9235440" cy="34747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20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¹ Vocentive (matt@vocentive.com)   ² Amazon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993392"/>
            <a:ext cx="9235440" cy="73152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2E8B8B"/>
                </a:solidFill>
                <a:latin typeface="Segoe UI"/>
                <a:ea typeface="Segoe UI"/>
                <a:cs typeface="Segoe UI"/>
              </a:rPr>
              <a:t>SIOP Leading Edge Consortium 2026
Shaping the Future of People Analytics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2862072"/>
            <a:ext cx="9235440" cy="3794760"/>
          </a:xfrm>
          <a:prstGeom prst="roundRect">
            <a:avLst/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2862072"/>
            <a:ext cx="109728" cy="3794760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999232"/>
            <a:ext cx="8686800" cy="34747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2E8B8B"/>
                </a:solidFill>
                <a:latin typeface="Segoe UI"/>
                <a:ea typeface="Segoe UI"/>
                <a:cs typeface="Segoe UI"/>
              </a:rPr>
              <a:t>ONE-SENTENCE THESIS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383280"/>
            <a:ext cx="8686800" cy="306324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0"/>
              </a:spcAft>
            </a:pPr>
            <a:r>
              <a:rPr sz="24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Organizations are optimizing work with AI for efficiency. Meaning of work predicts retention and well-being. If optimization strips the meaningful parts, efficiency gains are financed by turnover and burnout.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R1·C2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4F2F2"/>
                </a:solidFill>
                <a:latin typeface="Segoe UI"/>
                <a:ea typeface="Segoe UI"/>
                <a:cs typeface="Segoe UI"/>
              </a:rPr>
              <a:t>WHY NOW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People analytics is about to inherit meaning at 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07592"/>
            <a:ext cx="9144000" cy="5669280"/>
          </a:xfrm>
          <a:prstGeom prst="rect">
            <a:avLst/>
          </a:prstGeom>
          <a:noFill/>
        </p:spPr>
        <p:txBody>
          <a:bodyPr wrap="square" lIns="18288" rIns="54864" tIns="18288" bIns="18288" anchor="t"/>
          <a:lstStyle/>
          <a:p>
            <a:pPr algn="l">
              <a:spcAft>
                <a:spcPts val="2200"/>
              </a:spcAft>
            </a:pPr>
            <a:r>
              <a:rPr sz="24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•  People analytics is about to inherit responsibility for measuring meaning at scale.</a:t>
            </a:r>
          </a:p>
          <a:p>
            <a:pPr algn="l">
              <a:spcAft>
                <a:spcPts val="2200"/>
              </a:spcAft>
            </a:pPr>
            <a:r>
              <a:rPr sz="24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•  This project tests whether that is possible — and how to govern it.</a:t>
            </a:r>
          </a:p>
          <a:p>
            <a:pPr algn="l">
              <a:spcAft>
                <a:spcPts val="2200"/>
              </a:spcAft>
            </a:pPr>
            <a:r>
              <a:rPr sz="24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•  Two-wave field study, a locked AI coding pipeline, and ten years of nurses' own talk.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R1·C3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4F2F2"/>
                </a:solidFill>
                <a:latin typeface="Segoe UI"/>
                <a:ea typeface="Segoe UI"/>
                <a:cs typeface="Segoe UI"/>
              </a:rPr>
              <a:t>SCAN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Everything here, updated through the week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70432"/>
            <a:ext cx="9235440" cy="411480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ctr">
              <a:spcAft>
                <a:spcPts val="0"/>
              </a:spcAft>
            </a:pPr>
            <a:r>
              <a:rPr sz="20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Point a phone camera here. Packet updates through the consortium week.</a:t>
            </a:r>
          </a:p>
        </p:txBody>
      </p:sp>
      <p:pic>
        <p:nvPicPr>
          <p:cNvPr id="6" name="Picture 5" descr="qr_goody_b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673352"/>
            <a:ext cx="2743200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4553712"/>
            <a:ext cx="9235440" cy="192024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ctr">
              <a:spcAft>
                <a:spcPts val="0"/>
              </a:spcAft>
            </a:pPr>
            <a:r>
              <a:rPr sz="20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Digital goody bag
https://mjmonnot.github.io/lec-2026/
Poster, figures, methods, readings, and the quarter kit.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R1·C4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4F2F2"/>
                </a:solidFill>
                <a:latin typeface="Segoe UI"/>
                <a:ea typeface="Segoe UI"/>
                <a:cs typeface="Segoe UI"/>
              </a:rPr>
              <a:t>FRAMEWORK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Meaning runs on four pathways, not one score</a:t>
            </a:r>
          </a:p>
        </p:txBody>
      </p:sp>
      <p:pic>
        <p:nvPicPr>
          <p:cNvPr id="5" name="Picture 4" descr="fig_2x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70432"/>
            <a:ext cx="9326880" cy="5349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4048" y="6629400"/>
            <a:ext cx="9290304" cy="704087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0"/>
              </a:spcAft>
            </a:pPr>
            <a:r>
              <a:rPr sz="1800" b="0" i="1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Rosso et al. (2010): four pathways to meaningful work, 13 mechanism facets.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R2·C1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4F2F2"/>
                </a:solidFill>
                <a:latin typeface="Segoe UI"/>
                <a:ea typeface="Segoe UI"/>
                <a:cs typeface="Segoe UI"/>
              </a:rPr>
              <a:t>QUESTIONS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Three questions the literature left open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07592"/>
            <a:ext cx="9144000" cy="5669280"/>
          </a:xfrm>
          <a:prstGeom prst="rect">
            <a:avLst/>
          </a:prstGeom>
          <a:noFill/>
        </p:spPr>
        <p:txBody>
          <a:bodyPr wrap="square" lIns="18288" rIns="54864" tIns="18288" bIns="18288" anchor="t"/>
          <a:lstStyle/>
          <a:p>
            <a:pPr algn="l">
              <a:spcAft>
                <a:spcPts val="2200"/>
              </a:spcAft>
            </a:pPr>
            <a:r>
              <a:rPr sz="24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•  Additive vs. interactive combination of the four pathways.</a:t>
            </a:r>
          </a:p>
          <a:p>
            <a:pPr algn="l">
              <a:spcAft>
                <a:spcPts val="2200"/>
              </a:spcAft>
            </a:pPr>
            <a:r>
              <a:rPr sz="24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•  Possible plateau or curvilinear effect — too many active pathways may exhaust rather than sustain (Rosso et al., 2010, p. 116).</a:t>
            </a:r>
          </a:p>
          <a:p>
            <a:pPr algn="l">
              <a:spcAft>
                <a:spcPts val="2200"/>
              </a:spcAft>
            </a:pPr>
            <a:r>
              <a:rPr sz="24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•  Which pathways AI-driven redesign is most likely to strip.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R2·C2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4F2F2"/>
                </a:solidFill>
                <a:latin typeface="Segoe UI"/>
                <a:ea typeface="Segoe UI"/>
                <a:cs typeface="Segoe UI"/>
              </a:rPr>
              <a:t>DESIGN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Two waves, two coders, one sealed holdout</a:t>
            </a:r>
          </a:p>
        </p:txBody>
      </p:sp>
      <p:pic>
        <p:nvPicPr>
          <p:cNvPr id="5" name="Picture 4" descr="fig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70432"/>
            <a:ext cx="9326880" cy="5349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4048" y="6629400"/>
            <a:ext cx="9290304" cy="704087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0"/>
              </a:spcAft>
            </a:pPr>
            <a:r>
              <a:rPr sz="1800" b="0" i="1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ML evaluation discipline, ported to survey research.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R2·C3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4F2F2"/>
                </a:solidFill>
                <a:latin typeface="Segoe UI"/>
                <a:ea typeface="Segoe UI"/>
                <a:cs typeface="Segoe UI"/>
              </a:rPr>
              <a:t>FINDING 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Humans cannot reliably see communal meaning</a:t>
            </a:r>
          </a:p>
        </p:txBody>
      </p:sp>
      <p:pic>
        <p:nvPicPr>
          <p:cNvPr id="5" name="Picture 4" descr="fig_benchmar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70432"/>
            <a:ext cx="9326880" cy="5349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4048" y="6629400"/>
            <a:ext cx="9290304" cy="704087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0"/>
              </a:spcAft>
            </a:pPr>
            <a:r>
              <a:rPr sz="1800" b="0" i="1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Two trained human coders, 276 cases, dimension-level agreement.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R2·C4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4F2F2"/>
                </a:solidFill>
                <a:latin typeface="Segoe UI"/>
                <a:ea typeface="Segoe UI"/>
                <a:cs typeface="Segoe UI"/>
              </a:rPr>
              <a:t>PRACTICE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Ask which ceiling the vendor beat, on which dimension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61872"/>
            <a:ext cx="9144000" cy="5760720"/>
          </a:xfrm>
          <a:prstGeom prst="rect">
            <a:avLst/>
          </a:prstGeom>
          <a:noFill/>
        </p:spPr>
        <p:txBody>
          <a:bodyPr wrap="square" lIns="18288" rIns="54864" tIns="18288" bIns="18288" anchor="t"/>
          <a:lstStyle/>
          <a:p>
            <a:pPr algn="l">
              <a:spcAft>
                <a:spcPts val="1800"/>
              </a:spcAft>
            </a:pPr>
            <a:r>
              <a:rPr sz="22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•  Any vendor claiming to measure belonging or authenticity from text should be asked: against what human ceiling?</a:t>
            </a:r>
          </a:p>
          <a:p>
            <a:pPr algn="l">
              <a:spcAft>
                <a:spcPts val="1800"/>
              </a:spcAft>
            </a:pPr>
            <a:r>
              <a:rPr sz="22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•  For communal meaning that ceiling is ~.5, not .9.</a:t>
            </a:r>
          </a:p>
          <a:p>
            <a:pPr algn="l">
              <a:spcAft>
                <a:spcPts val="1800"/>
              </a:spcAft>
            </a:pPr>
            <a:r>
              <a:rPr sz="22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•  Validation targets must be dimension-specific.</a:t>
            </a:r>
          </a:p>
          <a:p>
            <a:pPr algn="l">
              <a:spcAft>
                <a:spcPts val="1800"/>
              </a:spcAft>
            </a:pPr>
            <a:r>
              <a:rPr sz="22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•  Agreement claims without a human benchmark are marketing.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R3·C1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4F2F2"/>
                </a:solidFill>
                <a:latin typeface="Segoe UI"/>
                <a:ea typeface="Segoe UI"/>
                <a:cs typeface="Segoe UI"/>
              </a:rPr>
              <a:t>FINDING 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The acceptance bars caught six prompts that looked precise</a:t>
            </a:r>
          </a:p>
        </p:txBody>
      </p:sp>
      <p:pic>
        <p:nvPicPr>
          <p:cNvPr id="5" name="Picture 4" descr="fig_promp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70432"/>
            <a:ext cx="9326880" cy="5349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4048" y="6629400"/>
            <a:ext cx="9290304" cy="704087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0"/>
              </a:spcAft>
            </a:pPr>
            <a:r>
              <a:rPr sz="1200" b="0" i="1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Six frozen prompts, scored once on the 55-case development set, reached agency .750–.798 against a .910 bar and each over-called meaning on cells both humans coded absent, so none was admitted. A later 65-case out-of-sample look at the two best landed in the same range (Agency .81; Others .746–.770); 128 test cases stay sealed for the next instrument. Dimension-specific bars, a sealed holdout, and a false-positive disqualifier are the reusable deliverable.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R3·C2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4F2F2"/>
                </a:solidFill>
                <a:latin typeface="Segoe UI"/>
                <a:ea typeface="Segoe UI"/>
                <a:cs typeface="Segoe UI"/>
              </a:rPr>
              <a:t>FINDING 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Meaning narrated as competence reached next year’s strain</a:t>
            </a:r>
          </a:p>
        </p:txBody>
      </p:sp>
      <p:pic>
        <p:nvPicPr>
          <p:cNvPr id="5" name="Picture 4" descr="fig_compet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70432"/>
            <a:ext cx="9326880" cy="5349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4048" y="6629400"/>
            <a:ext cx="9290304" cy="704087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0"/>
              </a:spcAft>
            </a:pPr>
            <a:r>
              <a:rPr sz="1300" b="0" i="1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Competence or mastery in the Time 1 story went with higher Time 2 turnover intentions (b = 1.40) and exhaustion (b = 0.95); 17 of 140 matched cases, holding a joint Time 1 survey battery. The pre-specified dimension paths sat near zero, which singles this code out. Exploratory; the lead for the next designed study.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R3·C3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7772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ACTION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Three things to do this quarter</a:t>
            </a:r>
          </a:p>
        </p:txBody>
      </p:sp>
      <p:sp>
        <p:nvSpPr>
          <p:cNvPr id="6" name="Oval 5"/>
          <p:cNvSpPr/>
          <p:nvPr/>
        </p:nvSpPr>
        <p:spPr>
          <a:xfrm>
            <a:off x="502920" y="1463040"/>
            <a:ext cx="658368" cy="658368"/>
          </a:xfrm>
          <a:prstGeom prst="ellipse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463040"/>
            <a:ext cx="658368" cy="658368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261872"/>
            <a:ext cx="8275320" cy="1097280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Seal a holdout before any prompt iteration.</a:t>
            </a:r>
          </a:p>
        </p:txBody>
      </p:sp>
      <p:sp>
        <p:nvSpPr>
          <p:cNvPr id="9" name="Oval 8"/>
          <p:cNvSpPr/>
          <p:nvPr/>
        </p:nvSpPr>
        <p:spPr>
          <a:xfrm>
            <a:off x="502920" y="2834640"/>
            <a:ext cx="658368" cy="658368"/>
          </a:xfrm>
          <a:prstGeom prst="ellipse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834640"/>
            <a:ext cx="658368" cy="658368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633472"/>
            <a:ext cx="8275320" cy="1097280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Pre-register the acceptance bar against a human benchmark.</a:t>
            </a:r>
          </a:p>
        </p:txBody>
      </p:sp>
      <p:sp>
        <p:nvSpPr>
          <p:cNvPr id="12" name="Oval 11"/>
          <p:cNvSpPr/>
          <p:nvPr/>
        </p:nvSpPr>
        <p:spPr>
          <a:xfrm>
            <a:off x="502920" y="4206240"/>
            <a:ext cx="658368" cy="658368"/>
          </a:xfrm>
          <a:prstGeom prst="ellipse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4206240"/>
            <a:ext cx="658368" cy="658368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4005072"/>
            <a:ext cx="8275320" cy="1097280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Automate leakage + PII checks in CI.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5989320"/>
            <a:ext cx="9235440" cy="1097280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ctr">
              <a:spcAft>
                <a:spcPts val="0"/>
              </a:spcAft>
            </a:pPr>
            <a:r>
              <a:rPr sz="2200" b="0" i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Shaping the future of people analytics means governing it.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R3·C4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4F2F2"/>
                </a:solidFill>
                <a:latin typeface="Segoe UI"/>
                <a:ea typeface="Segoe UI"/>
                <a:cs typeface="Segoe UI"/>
              </a:rPr>
              <a:t>NEXT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The next study measures AI exposure directly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53312"/>
            <a:ext cx="9144000" cy="5577840"/>
          </a:xfrm>
          <a:prstGeom prst="rect">
            <a:avLst/>
          </a:prstGeom>
          <a:noFill/>
        </p:spPr>
        <p:txBody>
          <a:bodyPr wrap="square" lIns="18288" rIns="54864" tIns="18288" bIns="18288" anchor="t"/>
          <a:lstStyle/>
          <a:p>
            <a:pPr algn="l">
              <a:spcAft>
                <a:spcPts val="2000"/>
              </a:spcAft>
            </a:pPr>
            <a:r>
              <a:rPr sz="22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•  Designed test of the competence → strain lead (n = 17 present cases).</a:t>
            </a:r>
          </a:p>
          <a:p>
            <a:pPr algn="l">
              <a:spcAft>
                <a:spcPts val="2000"/>
              </a:spcAft>
            </a:pPr>
            <a:r>
              <a:rPr sz="22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•  Validate the forum event coder: second model, perturbations, negative controls, human check.</a:t>
            </a:r>
          </a:p>
          <a:p>
            <a:pPr algn="l">
              <a:spcAft>
                <a:spcPts val="2000"/>
              </a:spcAft>
            </a:pPr>
            <a:r>
              <a:rPr sz="22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•  Within-account lagged design: apparatus named in an earlier post, control loss or exit talk later.</a:t>
            </a:r>
          </a:p>
          <a:p>
            <a:pPr algn="l">
              <a:spcAft>
                <a:spcPts val="2000"/>
              </a:spcAft>
            </a:pPr>
            <a:r>
              <a:rPr sz="22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•  Quasi-experimental test of AI adoption in helping work.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R4·C1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4F2F2"/>
                </a:solidFill>
                <a:latin typeface="Segoe UI"/>
                <a:ea typeface="Segoe UI"/>
                <a:cs typeface="Segoe UI"/>
              </a:rPr>
              <a:t>TAKE IT HOME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The methods travel; the data do not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70432"/>
            <a:ext cx="9235440" cy="384048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2000" b="0" i="1">
                <a:solidFill>
                  <a:srgbClr val="2E8B8B"/>
                </a:solidFill>
                <a:latin typeface="Segoe UI"/>
                <a:ea typeface="Segoe UI"/>
                <a:cs typeface="Segoe UI"/>
              </a:rPr>
              <a:t>https://mjmonnot.github.io/lec-2026/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673352"/>
            <a:ext cx="9235440" cy="1536192"/>
          </a:xfrm>
          <a:prstGeom prst="roundRect">
            <a:avLst/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8778240" cy="4389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Guardrails explainer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40280"/>
            <a:ext cx="8778240" cy="82296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0"/>
              </a:spcAft>
            </a:pPr>
            <a:r>
              <a:rPr sz="20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Plain-English one-pager on sealed holdouts, acceptance bars, and CI checks.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3246120"/>
            <a:ext cx="9235440" cy="1536192"/>
          </a:xfrm>
          <a:prstGeom prst="roundRect">
            <a:avLst/>
          </a:prstGeom>
          <a:solidFill>
            <a:srgbClr val="E4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55848"/>
            <a:ext cx="8778240" cy="4389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Methods &amp; decision records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813048"/>
            <a:ext cx="8778240" cy="82296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0"/>
              </a:spcAft>
            </a:pPr>
            <a:r>
              <a:rPr sz="20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Locked split, pre-specified bars, and run provenance (model pin, prompt hash, git SHA).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4818888"/>
            <a:ext cx="9235440" cy="1536192"/>
          </a:xfrm>
          <a:prstGeom prst="roundRect">
            <a:avLst/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928616"/>
            <a:ext cx="8778240" cy="4389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Contact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385816"/>
            <a:ext cx="8778240" cy="82296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0"/>
              </a:spcAft>
            </a:pPr>
            <a:r>
              <a:rPr sz="20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Matthew J. Monnot  ·  Vocentive  ·  matt@vocentive.com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R4·C2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4F2F2"/>
                </a:solidFill>
                <a:latin typeface="Segoe UI"/>
                <a:ea typeface="Segoe UI"/>
                <a:cs typeface="Segoe UI"/>
              </a:rPr>
              <a:t>FINDING 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Nurses named the apparatus, not AI</a:t>
            </a:r>
          </a:p>
        </p:txBody>
      </p:sp>
      <p:pic>
        <p:nvPicPr>
          <p:cNvPr id="5" name="Picture 4" descr="Study2_fig1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70432"/>
            <a:ext cx="9326880" cy="47322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4048" y="6012448"/>
            <a:ext cx="9290304" cy="1321039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0"/>
              </a:spcAft>
            </a:pPr>
            <a:r>
              <a:rPr sz="1800" b="0" i="1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7,709 allnurses posts, capture years 2016–2026, one-model event codes. Seven named-AI events, none after 2021. Ratios, metrics, charting: one post in twenty across the decade. Lack-of-control flag +4 points (template-change caveat). One-model codes.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R4·C3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4F2F2"/>
                </a:solidFill>
                <a:latin typeface="Segoe UI"/>
                <a:ea typeface="Segoe UI"/>
                <a:cs typeface="Segoe UI"/>
              </a:rPr>
              <a:t>FINDING 5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What moved was control, not skill</a:t>
            </a:r>
          </a:p>
        </p:txBody>
      </p:sp>
      <p:pic>
        <p:nvPicPr>
          <p:cNvPr id="5" name="Picture 4" descr="Study2_fig5_ro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70432"/>
            <a:ext cx="9326880" cy="475500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4048" y="6035163"/>
            <a:ext cx="9290304" cy="1298324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0"/>
              </a:spcAft>
            </a:pPr>
            <a:r>
              <a:rPr sz="1800" b="0" i="1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Half of apparatus events land on Control/Autonomy; frustrated Control is the only facet cell that grew. Competence stays the most enacted facet. Role from credential badge at capture, 48% of posts. RN flat; APRN up with an interval through zero.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R4·C4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4F2F2"/>
                </a:solidFill>
                <a:latin typeface="Segoe UI"/>
                <a:ea typeface="Segoe UI"/>
                <a:cs typeface="Segoe UI"/>
              </a:rPr>
              <a:t>EXTRA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Concurrent meaning rises with code density, then levels</a:t>
            </a:r>
          </a:p>
        </p:txBody>
      </p:sp>
      <p:pic>
        <p:nvPicPr>
          <p:cNvPr id="5" name="Picture 4" descr="fig_density_wami_quadr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1040" y="1170432"/>
            <a:ext cx="7536319" cy="5440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4048" y="6720840"/>
            <a:ext cx="9290304" cy="612647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0"/>
              </a:spcAft>
            </a:pPr>
            <a:r>
              <a:rPr sz="1400" b="0" i="1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Pathway density tracks Time 1 WAMI (others-directed r = .24; agency r = .20; contribution r = .23). Felt meaning rises from zero to two narrated pathways and flattens after; exploratory quadratic.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X1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4F2F2"/>
                </a:solidFill>
                <a:latin typeface="Segoe UI"/>
                <a:ea typeface="Segoe UI"/>
                <a:cs typeface="Segoe UI"/>
              </a:rPr>
              <a:t>EXTRA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Frustrated control was the only forum cell that grew</a:t>
            </a:r>
          </a:p>
        </p:txBody>
      </p:sp>
      <p:pic>
        <p:nvPicPr>
          <p:cNvPr id="5" name="Picture 4" descr="Study2_fig2_fac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70432"/>
            <a:ext cx="9326880" cy="423547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4048" y="5515631"/>
            <a:ext cx="9290304" cy="1817856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0"/>
              </a:spcAft>
            </a:pPr>
            <a:r>
              <a:rPr sz="1800" b="0" i="1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Events per 100 posts, one-model codes. Competence most enacted; Control/Autonomy most frustrated and the only cell that grew. Communion spread across five thin, mostly enacted rows. One-model codes; capture year is the time axis.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X2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